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1) 폴더 이동</a:t>
            </a:r>
          </a:p>
          <a:p>
            <a:r>
              <a:t>2) 가상환경 생성/활성화</a:t>
            </a:r>
          </a:p>
          <a:p>
            <a:r>
              <a:t>3) 패키지 설치</a:t>
            </a:r>
          </a:p>
          <a:p>
            <a:r>
              <a:t>4) 실행</a:t>
            </a:r>
          </a:p>
          <a:p>
            <a:r>
              <a:t>5) 접속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운영 팁: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주의: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필수:</a:t>
            </a:r>
          </a:p>
          <a:p>
            <a:r>
              <a:t>선택 컬럼: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보안 주의: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제조 AI/DX 용어집 웹앱 - 설치/운영 매뉴얼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(자동 생성된 매뉴얼 PPT)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제조 AI/DX 용어집 웹앱</a:t>
            </a:r>
          </a:p>
          <a:p>
            <a:pPr>
              <a:defRPr sz="2000"/>
            </a:pPr>
            <a:r>
              <a:t>설치/운영/사용 매뉴얼</a:t>
            </a:r>
          </a:p>
          <a:p>
            <a:pPr>
              <a:defRPr sz="2000"/>
            </a:pPr>
            <a:r>
              <a:t>(팀/작성일)</a:t>
            </a:r>
          </a:p>
          <a:p>
            <a:pPr>
              <a:defRPr sz="2000"/>
            </a:pPr>
            <a:r>
              <a:t>현장/사내에서 제조 AI/DX 용어를 검색하고, 엑셀로 추출/업로드/수정까지 가능한 웹앱입니다.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목표(왜 만들었나)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제조 AI/DX 용어 표준화</a:t>
            </a:r>
          </a:p>
          <a:p>
            <a:pPr>
              <a:defRPr sz="2000"/>
            </a:pPr>
            <a:r>
              <a:t>현업/기획/개발 커뮤니케이션 비용 감소</a:t>
            </a:r>
          </a:p>
          <a:p>
            <a:pPr>
              <a:defRPr sz="2000"/>
            </a:pPr>
            <a:r>
              <a:t>용어 정의/예시/KPI/혼동용어를 한 곳에서 관리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기능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검색(키워드)</a:t>
            </a:r>
          </a:p>
          <a:p>
            <a:pPr>
              <a:defRPr sz="2000"/>
            </a:pPr>
            <a:r>
              <a:t>카테고리 필터</a:t>
            </a:r>
          </a:p>
          <a:p>
            <a:pPr>
              <a:defRPr sz="2000"/>
            </a:pPr>
            <a:r>
              <a:t>용어 상세 보기</a:t>
            </a:r>
          </a:p>
          <a:p>
            <a:pPr>
              <a:defRPr sz="2000"/>
            </a:pPr>
            <a:r>
              <a:t>용어 수정(즉시 반영)</a:t>
            </a:r>
          </a:p>
          <a:p>
            <a:pPr>
              <a:defRPr sz="2000"/>
            </a:pPr>
            <a:r>
              <a:t>엑셀 다운로드</a:t>
            </a:r>
          </a:p>
          <a:p>
            <a:pPr>
              <a:defRPr sz="2000"/>
            </a:pPr>
            <a:r>
              <a:t>엑셀 일괄 업로드</a:t>
            </a:r>
          </a:p>
          <a:p>
            <a:pPr>
              <a:defRPr sz="2000"/>
            </a:pPr>
            <a:r>
              <a:t>(선택) LLM 연동: 검색 결과 없을 때 자동 생성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구성(파일/정본)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웹앱 폴더: `glossary-webapp/`</a:t>
            </a:r>
          </a:p>
          <a:p>
            <a:pPr>
              <a:defRPr sz="2000"/>
            </a:pPr>
            <a:r>
              <a:t>정본 데이터: `glossary-webapp/data/glossary.json`</a:t>
            </a:r>
          </a:p>
          <a:p>
            <a:pPr>
              <a:defRPr sz="2000"/>
            </a:pPr>
            <a:r>
              <a:t>설치 직후 100개 예제 포함(바로 사용 가능)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설치 전 준비사항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 3.10+ 권장</a:t>
            </a:r>
          </a:p>
          <a:p>
            <a:pPr>
              <a:defRPr sz="2000"/>
            </a:pPr>
            <a:r>
              <a:t>브라우저(Chrome 권장)</a:t>
            </a:r>
          </a:p>
          <a:p>
            <a:pPr>
              <a:defRPr sz="2000"/>
            </a:pPr>
            <a:r>
              <a:t>사내 서버 배포 시: 8080 포트 접근 허용 필요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설치(로컬) — Step by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`cd glossary-webapp`</a:t>
            </a:r>
          </a:p>
          <a:p>
            <a:pPr>
              <a:defRPr sz="2000"/>
            </a:pPr>
            <a:r>
              <a:t>`python3 -m venv .venv`</a:t>
            </a:r>
          </a:p>
          <a:p>
            <a:pPr>
              <a:defRPr sz="2000"/>
            </a:pPr>
            <a:r>
              <a:t>`source .venv/bin/activate`</a:t>
            </a:r>
          </a:p>
          <a:p>
            <a:pPr>
              <a:defRPr sz="2000"/>
            </a:pPr>
            <a:r>
              <a:t>`pip install -U pip`</a:t>
            </a:r>
          </a:p>
          <a:p>
            <a:pPr>
              <a:defRPr sz="2000"/>
            </a:pPr>
            <a:r>
              <a:t>`pip install -r requirements.txt`</a:t>
            </a:r>
          </a:p>
          <a:p>
            <a:pPr>
              <a:defRPr sz="2000"/>
            </a:pPr>
            <a:r>
              <a:t>`uvicorn app.main:app --host 0.0.0.0 --port 8080`</a:t>
            </a:r>
          </a:p>
          <a:p>
            <a:pPr>
              <a:defRPr sz="2000"/>
            </a:pPr>
            <a:r>
              <a:t>`http://localhost:8080`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실행 확인(성공 기준)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웹 화면 로딩</a:t>
            </a:r>
          </a:p>
          <a:p>
            <a:pPr>
              <a:defRPr sz="2000"/>
            </a:pPr>
            <a:r>
              <a:t>검색어 입력 시 카드 리스트 출력</a:t>
            </a:r>
          </a:p>
          <a:p>
            <a:pPr>
              <a:defRPr sz="2000"/>
            </a:pPr>
            <a:r>
              <a:t>카드 클릭 시 상세 영역 출력</a:t>
            </a:r>
          </a:p>
          <a:p>
            <a:pPr>
              <a:defRPr sz="2000"/>
            </a:pPr>
            <a:r>
              <a:t>수정 버튼이 동작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검색/필터 사용법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검색창: 예) OEE, MES, RAG</a:t>
            </a:r>
          </a:p>
          <a:p>
            <a:pPr>
              <a:defRPr sz="2000"/>
            </a:pPr>
            <a:r>
              <a:t>카테고리 드롭다운: 전체/전략/데이터/AI/자동화/운영/보안/성과</a:t>
            </a:r>
          </a:p>
          <a:p>
            <a:pPr>
              <a:defRPr sz="2000"/>
            </a:pPr>
            <a:r>
              <a:t>팁: “검색어 없이 카테고리만”으로도 조회 가능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용어 수정(사용자 편집)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카드 클릭 → 상세 화면</a:t>
            </a:r>
          </a:p>
          <a:p>
            <a:pPr>
              <a:defRPr sz="2000"/>
            </a:pPr>
            <a:r>
              <a:t>[수정] 클릭 → 편집 폼</a:t>
            </a:r>
          </a:p>
          <a:p>
            <a:pPr>
              <a:defRPr sz="2000"/>
            </a:pPr>
            <a:r>
              <a:t>[저장] 클릭 → 즉시 정본(JSON) 반영</a:t>
            </a:r>
          </a:p>
          <a:p>
            <a:pPr>
              <a:defRPr sz="2000"/>
            </a:pPr>
            <a:r>
              <a:t>운영 환경에서는 수정 전 백업 권장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엑셀 다운로드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[엑셀 다운로드] 클릭</a:t>
            </a:r>
          </a:p>
          <a:p>
            <a:pPr>
              <a:defRPr sz="2000"/>
            </a:pPr>
            <a:r>
              <a:t>현재 정본(glossary.json)을 xlsx로 내려받음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엑셀 일괄 업로드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[파일 선택] → xlsx 선택</a:t>
            </a:r>
          </a:p>
          <a:p>
            <a:pPr>
              <a:defRPr sz="2000"/>
            </a:pPr>
            <a:r>
              <a:t>[일괄 업로드(xlsx)] 클릭</a:t>
            </a:r>
          </a:p>
          <a:p>
            <a:pPr>
              <a:defRPr sz="2000"/>
            </a:pPr>
            <a:r>
              <a:t>결과: 추가/업데이트/스킵/총 용어수 표시</a:t>
            </a:r>
          </a:p>
          <a:p>
            <a:pPr>
              <a:defRPr sz="2000"/>
            </a:pPr>
            <a:r>
              <a:t>업로드는 정본을 직접 변경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업로드 엑셀 포맷(헤더)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1행: 헤더</a:t>
            </a:r>
          </a:p>
          <a:p>
            <a:pPr>
              <a:defRPr sz="2000"/>
            </a:pPr>
            <a:r>
              <a:t>`용어(KR)` 필수</a:t>
            </a:r>
          </a:p>
          <a:p>
            <a:pPr>
              <a:defRPr sz="2000"/>
            </a:pPr>
            <a:r>
              <a:t>`약어/EN`</a:t>
            </a:r>
          </a:p>
          <a:p>
            <a:pPr>
              <a:defRPr sz="2000"/>
            </a:pPr>
            <a:r>
              <a:t>`분류`</a:t>
            </a:r>
          </a:p>
          <a:p>
            <a:pPr>
              <a:defRPr sz="2000"/>
            </a:pPr>
            <a:r>
              <a:t>`한줄 정의`</a:t>
            </a:r>
          </a:p>
          <a:p>
            <a:pPr>
              <a:defRPr sz="2000"/>
            </a:pPr>
            <a:r>
              <a:t>`예시`</a:t>
            </a:r>
          </a:p>
          <a:p>
            <a:pPr>
              <a:defRPr sz="2000"/>
            </a:pPr>
            <a:r>
              <a:t>`KPI` (쉼표/줄바꿈)</a:t>
            </a:r>
          </a:p>
          <a:p>
            <a:pPr>
              <a:defRPr sz="2000"/>
            </a:pPr>
            <a:r>
              <a:t>`혼동되는 용어` (쉼표/줄바꿈)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(선택) LLM 연동 — 언제 쓰나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검색 결과가 없을 때 자동으로 초안 생성</a:t>
            </a:r>
          </a:p>
          <a:p>
            <a:pPr>
              <a:defRPr sz="2000"/>
            </a:pPr>
            <a:r>
              <a:t>사내 정책에 맞게:</a:t>
            </a:r>
          </a:p>
          <a:p>
            <a:pPr>
              <a:defRPr sz="2000"/>
            </a:pPr>
            <a:r>
              <a:t>Azure OpenAI(사내 테넌트) 권장</a:t>
            </a:r>
          </a:p>
          <a:p>
            <a:pPr>
              <a:defRPr sz="2000"/>
            </a:pPr>
            <a:r>
              <a:t>토큰은 `.env`에만 보관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(선택) Azure OpenAI 설정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`.env.example` → `.env` 복사</a:t>
            </a:r>
          </a:p>
          <a:p>
            <a:pPr>
              <a:defRPr sz="2000"/>
            </a:pPr>
            <a:r>
              <a:t>주요 변수:</a:t>
            </a:r>
          </a:p>
          <a:p>
            <a:pPr>
              <a:defRPr sz="2000"/>
            </a:pPr>
            <a:r>
              <a:t>`LLM_MODE=azure_openai`</a:t>
            </a:r>
          </a:p>
          <a:p>
            <a:pPr>
              <a:defRPr sz="2000"/>
            </a:pPr>
            <a:r>
              <a:t>`LLM_ENDPOINT=...`</a:t>
            </a:r>
          </a:p>
          <a:p>
            <a:pPr>
              <a:defRPr sz="2000"/>
            </a:pPr>
            <a:r>
              <a:t>`LLM_API_KEY=...`</a:t>
            </a:r>
          </a:p>
          <a:p>
            <a:pPr>
              <a:defRPr sz="2000"/>
            </a:pPr>
            <a:r>
              <a:t>`LLM_DEPLOYMENT=...`</a:t>
            </a:r>
          </a:p>
          <a:p>
            <a:pPr>
              <a:defRPr sz="2000"/>
            </a:pPr>
            <a:r>
              <a:t>`.env`는 절대 Git에 커밋 금지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운영/보안 권장사항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사내 배포 시 인증(SSO/Proxy) 권장</a:t>
            </a:r>
          </a:p>
          <a:p>
            <a:pPr>
              <a:defRPr sz="2000"/>
            </a:pPr>
            <a:r>
              <a:t>외부 통신 차단 정책 확인(LLM 사용 시)</a:t>
            </a:r>
          </a:p>
          <a:p>
            <a:pPr>
              <a:defRPr sz="2000"/>
            </a:pPr>
            <a:r>
              <a:t>정본 파일 백업/버전관리 권장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트러블슈팅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설치 중 오류: venv 활성화 확인</a:t>
            </a:r>
          </a:p>
          <a:p>
            <a:pPr>
              <a:defRPr sz="2000"/>
            </a:pPr>
            <a:r>
              <a:t>접속 불가: 포트/방화벽 확인</a:t>
            </a:r>
          </a:p>
          <a:p>
            <a:pPr>
              <a:defRPr sz="2000"/>
            </a:pPr>
            <a:r>
              <a:t>업로드 실패: 헤더/필수 컬럼(용어KR) 확인</a:t>
            </a:r>
          </a:p>
          <a:p>
            <a:pPr>
              <a:defRPr sz="2000"/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요청사항/추가 기능 논의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